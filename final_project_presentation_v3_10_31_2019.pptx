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60" r:id="rId2"/>
    <p:sldId id="256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308966-34E8-4DC1-94EB-E306216A2588}">
          <p14:sldIdLst>
            <p14:sldId id="260"/>
            <p14:sldId id="256"/>
            <p14:sldId id="257"/>
            <p14:sldId id="258"/>
            <p14:sldId id="261"/>
            <p14:sldId id="262"/>
            <p14:sldId id="263"/>
            <p14:sldId id="264"/>
            <p14:sldId id="265"/>
            <p14:sldId id="266"/>
            <p14:sldId id="271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43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27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51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027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8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58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91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32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4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11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191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8139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465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07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58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75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00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10/31/19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2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8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hf sldNum="0" hdr="0" ftr="0" dt="0"/>
  <p:txStyles>
    <p:titleStyle>
      <a:lvl1pPr algn="ctr" defTabSz="457200" rtl="0" eaLnBrk="1" latinLnBrk="0" hangingPunct="1">
        <a:lnSpc>
          <a:spcPct val="100000"/>
        </a:lnSpc>
        <a:spcBef>
          <a:spcPct val="0"/>
        </a:spcBef>
        <a:buNone/>
        <a:defRPr sz="4000" i="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72CA733A-8D25-4E63-8273-CC14052E0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EC12B-59AE-426A-9116-8FE528E51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4401923"/>
            <a:ext cx="9440034" cy="108833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US" sz="4000" dirty="0"/>
            </a:br>
            <a:endParaRPr lang="en-US" sz="3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FB581C-2142-4222-9A3B-905AD6C0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pic>
        <p:nvPicPr>
          <p:cNvPr id="3" name="Picture 2" descr="A picture containing tower, engine&#10;&#10;Description automatically generated">
            <a:extLst>
              <a:ext uri="{FF2B5EF4-FFF2-40B4-BE49-F238E27FC236}">
                <a16:creationId xmlns:a16="http://schemas.microsoft.com/office/drawing/2014/main" id="{835459EA-00EA-41AE-B5A6-5FAC1C695D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3000"/>
          </a:blip>
          <a:srcRect t="16791" r="-1" b="21699"/>
          <a:stretch/>
        </p:blipFill>
        <p:spPr>
          <a:xfrm>
            <a:off x="-1" y="-2"/>
            <a:ext cx="12198915" cy="432227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5DABC4-8E1B-604B-90E6-FFB879ED8E0C}"/>
              </a:ext>
            </a:extLst>
          </p:cNvPr>
          <p:cNvSpPr/>
          <p:nvPr/>
        </p:nvSpPr>
        <p:spPr>
          <a:xfrm>
            <a:off x="3608596" y="2644681"/>
            <a:ext cx="8500277" cy="15081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sz="6000" spc="50" dirty="0" err="1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NYCity</a:t>
            </a:r>
            <a:r>
              <a:rPr lang="en-US" sz="60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Watch</a:t>
            </a:r>
          </a:p>
          <a:p>
            <a:pPr algn="r"/>
            <a:r>
              <a:rPr lang="en-US" sz="32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A Data Driven Visual into New York Public Safety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1688E9-796A-2B4B-BDEC-83D9B1EC23F8}"/>
              </a:ext>
            </a:extLst>
          </p:cNvPr>
          <p:cNvSpPr/>
          <p:nvPr/>
        </p:nvSpPr>
        <p:spPr>
          <a:xfrm>
            <a:off x="1759780" y="4600288"/>
            <a:ext cx="867243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Enhancements and Machine Learning Integration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DD934D-D540-3C45-AA0A-9D7E217E289C}"/>
              </a:ext>
            </a:extLst>
          </p:cNvPr>
          <p:cNvSpPr/>
          <p:nvPr/>
        </p:nvSpPr>
        <p:spPr>
          <a:xfrm>
            <a:off x="5168341" y="5589354"/>
            <a:ext cx="1855316" cy="116955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6900" indent="0" algn="ctr">
              <a:buNone/>
            </a:pPr>
            <a:r>
              <a:rPr lang="en-US" sz="1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10/31/2019</a:t>
            </a:r>
          </a:p>
          <a:p>
            <a:pPr marL="36900" indent="0" algn="ctr">
              <a:buNone/>
            </a:pPr>
            <a:r>
              <a:rPr lang="en-US" sz="1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Members:</a:t>
            </a:r>
          </a:p>
          <a:p>
            <a:pPr marL="36900" indent="0" algn="ctr">
              <a:buNone/>
            </a:pPr>
            <a:r>
              <a:rPr lang="en-US" sz="1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Kit Rana</a:t>
            </a:r>
          </a:p>
          <a:p>
            <a:pPr marL="36900" indent="0" algn="ctr">
              <a:buNone/>
            </a:pPr>
            <a:r>
              <a:rPr lang="en-US" sz="1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Suvarna </a:t>
            </a:r>
            <a:r>
              <a:rPr lang="en-US" sz="1400" spc="50" dirty="0" err="1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Sampale</a:t>
            </a:r>
            <a:endParaRPr lang="en-US" sz="1400" spc="50" dirty="0">
              <a:ln w="0"/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36900" indent="0" algn="ctr">
              <a:buNone/>
            </a:pPr>
            <a:r>
              <a:rPr lang="en-US" sz="1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Charlie Blasi</a:t>
            </a:r>
          </a:p>
        </p:txBody>
      </p:sp>
    </p:spTree>
    <p:extLst>
      <p:ext uri="{BB962C8B-B14F-4D97-AF65-F5344CB8AC3E}">
        <p14:creationId xmlns:p14="http://schemas.microsoft.com/office/powerpoint/2010/main" val="3472278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ower, engine&#10;&#10;Description automatically generated">
            <a:extLst>
              <a:ext uri="{FF2B5EF4-FFF2-40B4-BE49-F238E27FC236}">
                <a16:creationId xmlns:a16="http://schemas.microsoft.com/office/drawing/2014/main" id="{835459EA-00EA-41AE-B5A6-5FAC1C695D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7E5939-5F96-0B4E-BF42-E9EDE3180065}"/>
              </a:ext>
            </a:extLst>
          </p:cNvPr>
          <p:cNvSpPr/>
          <p:nvPr/>
        </p:nvSpPr>
        <p:spPr>
          <a:xfrm>
            <a:off x="3157046" y="1490008"/>
            <a:ext cx="697017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EMS Response Time:</a:t>
            </a:r>
          </a:p>
          <a:p>
            <a:pPr algn="ctr"/>
            <a:r>
              <a:rPr lang="en-US" sz="5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62353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B4B71D-B6E5-465E-9D85-EFCAA38EAFED}"/>
              </a:ext>
            </a:extLst>
          </p:cNvPr>
          <p:cNvSpPr txBox="1"/>
          <p:nvPr/>
        </p:nvSpPr>
        <p:spPr>
          <a:xfrm>
            <a:off x="913795" y="1866900"/>
            <a:ext cx="41279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Removing 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Renaming column headers and values for clearer visualization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Removing columns that are excluded from the machine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Converting date and time column from object to timestamp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Extracting the hour of the day and day of the week from the timestamp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23851-7BA1-4475-9971-C49DA9EF1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124" y="1866900"/>
            <a:ext cx="5035091" cy="36118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3385CE-7792-924F-88CF-019D93E47CE8}"/>
              </a:ext>
            </a:extLst>
          </p:cNvPr>
          <p:cNvSpPr/>
          <p:nvPr/>
        </p:nvSpPr>
        <p:spPr>
          <a:xfrm>
            <a:off x="227214" y="374451"/>
            <a:ext cx="1173757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412053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3ADABF-1D36-48C3-880E-65ECA2BF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067" y="1485286"/>
            <a:ext cx="4180621" cy="1146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A7E96-6398-48FC-BC82-70E07A98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067" y="3260107"/>
            <a:ext cx="2990850" cy="867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0B3031-7D00-4379-9C6A-F2E6DB9CA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067" y="4127604"/>
            <a:ext cx="2990850" cy="277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9F67BD-AAB5-485B-B42D-69FDD183DF38}"/>
              </a:ext>
            </a:extLst>
          </p:cNvPr>
          <p:cNvSpPr txBox="1"/>
          <p:nvPr/>
        </p:nvSpPr>
        <p:spPr>
          <a:xfrm>
            <a:off x="1249960" y="1485286"/>
            <a:ext cx="41022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Step 1</a:t>
            </a:r>
            <a:r>
              <a:rPr lang="en-US" sz="1600" b="1" dirty="0"/>
              <a:t>:</a:t>
            </a:r>
          </a:p>
          <a:p>
            <a:r>
              <a:rPr lang="en-US" sz="1600" dirty="0"/>
              <a:t>Create X and y for the machine learning model</a:t>
            </a:r>
          </a:p>
          <a:p>
            <a:endParaRPr lang="en-US" sz="1600" dirty="0"/>
          </a:p>
          <a:p>
            <a:r>
              <a:rPr lang="en-US" sz="1600" dirty="0"/>
              <a:t>--------------------------------------------------------------------</a:t>
            </a:r>
          </a:p>
          <a:p>
            <a:endParaRPr lang="en-US" sz="1600" dirty="0"/>
          </a:p>
          <a:p>
            <a:r>
              <a:rPr lang="en-US" sz="1600" b="1" u="sng" dirty="0"/>
              <a:t>Step 2</a:t>
            </a:r>
            <a:r>
              <a:rPr lang="en-US" sz="1600" b="1" dirty="0"/>
              <a:t>:</a:t>
            </a:r>
          </a:p>
          <a:p>
            <a:r>
              <a:rPr lang="en-US" sz="1600" dirty="0"/>
              <a:t>Use the one hot encoder function to fit and transform your non-numerical values</a:t>
            </a:r>
          </a:p>
          <a:p>
            <a:endParaRPr lang="en-US" sz="1600" dirty="0"/>
          </a:p>
          <a:p>
            <a:r>
              <a:rPr lang="en-US" sz="1600" dirty="0"/>
              <a:t>--------------------------------------------------------------------</a:t>
            </a:r>
          </a:p>
          <a:p>
            <a:endParaRPr lang="en-US" sz="1600" dirty="0"/>
          </a:p>
          <a:p>
            <a:r>
              <a:rPr lang="en-US" sz="1600" b="1" u="sng" dirty="0"/>
              <a:t>Step 3</a:t>
            </a:r>
            <a:r>
              <a:rPr lang="en-US" sz="1600" b="1" dirty="0"/>
              <a:t>:</a:t>
            </a:r>
          </a:p>
          <a:p>
            <a:r>
              <a:rPr lang="en-US" sz="1600" dirty="0"/>
              <a:t>Fit your newly encoded X and y to the model. You can now score the accuracy of your model and make predictions.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B379F7-AAEB-4197-964F-1886F7515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067" y="5059468"/>
            <a:ext cx="5269859" cy="118893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1D2FEC-475A-4140-92B5-709AA4463D30}"/>
              </a:ext>
            </a:extLst>
          </p:cNvPr>
          <p:cNvCxnSpPr/>
          <p:nvPr/>
        </p:nvCxnSpPr>
        <p:spPr>
          <a:xfrm>
            <a:off x="5352176" y="2058734"/>
            <a:ext cx="8305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944AD1E-963F-4E1D-9D1B-DB6FF2DF92BE}"/>
              </a:ext>
            </a:extLst>
          </p:cNvPr>
          <p:cNvCxnSpPr/>
          <p:nvPr/>
        </p:nvCxnSpPr>
        <p:spPr>
          <a:xfrm>
            <a:off x="5352176" y="3693855"/>
            <a:ext cx="8305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F53F6A-5920-4B1D-8560-C32C2AA0638A}"/>
              </a:ext>
            </a:extLst>
          </p:cNvPr>
          <p:cNvCxnSpPr/>
          <p:nvPr/>
        </p:nvCxnSpPr>
        <p:spPr>
          <a:xfrm>
            <a:off x="5352176" y="5653934"/>
            <a:ext cx="8305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EA6AC63-47C0-AF40-B7EA-2FCDA197ACF9}"/>
              </a:ext>
            </a:extLst>
          </p:cNvPr>
          <p:cNvSpPr/>
          <p:nvPr/>
        </p:nvSpPr>
        <p:spPr>
          <a:xfrm>
            <a:off x="183692" y="271678"/>
            <a:ext cx="114032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One-Hot Encoding</a:t>
            </a:r>
          </a:p>
        </p:txBody>
      </p:sp>
    </p:spTree>
    <p:extLst>
      <p:ext uri="{BB962C8B-B14F-4D97-AF65-F5344CB8AC3E}">
        <p14:creationId xmlns:p14="http://schemas.microsoft.com/office/powerpoint/2010/main" val="303271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ower, engine&#10;&#10;Description automatically generated">
            <a:extLst>
              <a:ext uri="{FF2B5EF4-FFF2-40B4-BE49-F238E27FC236}">
                <a16:creationId xmlns:a16="http://schemas.microsoft.com/office/drawing/2014/main" id="{835459EA-00EA-41AE-B5A6-5FAC1C695D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0D09DC-4717-B44C-9481-EA01BBD69D22}"/>
              </a:ext>
            </a:extLst>
          </p:cNvPr>
          <p:cNvSpPr/>
          <p:nvPr/>
        </p:nvSpPr>
        <p:spPr>
          <a:xfrm>
            <a:off x="1378202" y="1490008"/>
            <a:ext cx="943559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Park Felony Crime Complaints:</a:t>
            </a:r>
          </a:p>
          <a:p>
            <a:pPr algn="ctr"/>
            <a:r>
              <a:rPr lang="en-US" sz="48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212845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B4B71D-B6E5-465E-9D85-EFCAA38EAFED}"/>
              </a:ext>
            </a:extLst>
          </p:cNvPr>
          <p:cNvSpPr txBox="1"/>
          <p:nvPr/>
        </p:nvSpPr>
        <p:spPr>
          <a:xfrm>
            <a:off x="357738" y="1916776"/>
            <a:ext cx="26017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x: Size of Park in Acres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Y: # of Felony Complaint Crimes Reported (per park 2014 – 2019)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R2 score increased for single boroughs v. multiple boroughs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6DF34-F963-4965-865A-DB7C347ECF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46615" y="1606858"/>
            <a:ext cx="6971078" cy="2450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5B4BE6-48C4-46E4-9888-00F6D38D336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46614" y="4255592"/>
            <a:ext cx="6971078" cy="24502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A7C842-F6B7-D442-BB35-3A7352B2FAA1}"/>
              </a:ext>
            </a:extLst>
          </p:cNvPr>
          <p:cNvSpPr/>
          <p:nvPr/>
        </p:nvSpPr>
        <p:spPr>
          <a:xfrm>
            <a:off x="357738" y="312777"/>
            <a:ext cx="1139645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Univariate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731181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226466-74A8-5742-8646-C89F9A4B9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20" y="998241"/>
            <a:ext cx="8389427" cy="5650992"/>
          </a:xfrm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FEA70A-1420-F94E-9220-6F85D3949123}"/>
              </a:ext>
            </a:extLst>
          </p:cNvPr>
          <p:cNvSpPr/>
          <p:nvPr/>
        </p:nvSpPr>
        <p:spPr>
          <a:xfrm>
            <a:off x="166255" y="201403"/>
            <a:ext cx="118872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Rise of the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82242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FEA70A-1420-F94E-9220-6F85D3949123}"/>
              </a:ext>
            </a:extLst>
          </p:cNvPr>
          <p:cNvSpPr/>
          <p:nvPr/>
        </p:nvSpPr>
        <p:spPr>
          <a:xfrm>
            <a:off x="182880" y="334407"/>
            <a:ext cx="1183732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Rasa NLU/Core Process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B07604-FC6A-B740-8B9F-04B0C1A91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6" y="980738"/>
            <a:ext cx="10326746" cy="4818092"/>
          </a:xfrm>
          <a:effectLst>
            <a:outerShdw blurRad="25400" dir="1788000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904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FEA70A-1420-F94E-9220-6F85D3949123}"/>
              </a:ext>
            </a:extLst>
          </p:cNvPr>
          <p:cNvSpPr/>
          <p:nvPr/>
        </p:nvSpPr>
        <p:spPr>
          <a:xfrm>
            <a:off x="182880" y="334407"/>
            <a:ext cx="1183732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Rasa NLU: Natural Language Understanding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7C6730-4433-2D49-93F3-C8A5A8416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53" y="980739"/>
            <a:ext cx="7265324" cy="5054302"/>
          </a:xfrm>
          <a:effectLst>
            <a:outerShdw blurRad="25400" dir="17880000">
              <a:srgbClr val="000000">
                <a:alpha val="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DC089E-33AA-1F43-BD45-29DB4D8F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345" y="1762298"/>
            <a:ext cx="3722202" cy="397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5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FEA70A-1420-F94E-9220-6F85D3949123}"/>
              </a:ext>
            </a:extLst>
          </p:cNvPr>
          <p:cNvSpPr/>
          <p:nvPr/>
        </p:nvSpPr>
        <p:spPr>
          <a:xfrm>
            <a:off x="182880" y="334407"/>
            <a:ext cx="1183732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Rasa Core: Dialogue Handling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CFE956-92A2-DF49-B3EB-DEFEEDEB4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36" y="1043575"/>
            <a:ext cx="11085569" cy="5024716"/>
          </a:xfrm>
          <a:effectLst>
            <a:outerShdw blurRad="25400" dir="1788000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205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FEA70A-1420-F94E-9220-6F85D3949123}"/>
              </a:ext>
            </a:extLst>
          </p:cNvPr>
          <p:cNvSpPr/>
          <p:nvPr/>
        </p:nvSpPr>
        <p:spPr>
          <a:xfrm>
            <a:off x="182880" y="334407"/>
            <a:ext cx="1183732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Evaluating the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860C9F-BD4A-2846-85BA-41EEE9585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43" y="1271556"/>
            <a:ext cx="4464023" cy="483569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9F7F97-3662-C74F-95AD-4B23C0837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774" y="1295053"/>
            <a:ext cx="5581403" cy="48122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75C2A3C-9357-8B48-9ED6-54159B1EB75D}"/>
              </a:ext>
            </a:extLst>
          </p:cNvPr>
          <p:cNvSpPr/>
          <p:nvPr/>
        </p:nvSpPr>
        <p:spPr>
          <a:xfrm>
            <a:off x="-130629" y="6123483"/>
            <a:ext cx="55814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NLU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816944-BEA1-1A4F-B06E-A5D526271D84}"/>
              </a:ext>
            </a:extLst>
          </p:cNvPr>
          <p:cNvSpPr/>
          <p:nvPr/>
        </p:nvSpPr>
        <p:spPr>
          <a:xfrm>
            <a:off x="5626925" y="6123483"/>
            <a:ext cx="55814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1836006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ower, engine&#10;&#10;Description automatically generated">
            <a:extLst>
              <a:ext uri="{FF2B5EF4-FFF2-40B4-BE49-F238E27FC236}">
                <a16:creationId xmlns:a16="http://schemas.microsoft.com/office/drawing/2014/main" id="{835459EA-00EA-41AE-B5A6-5FAC1C695D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0D09DC-4717-B44C-9481-EA01BBD69D22}"/>
              </a:ext>
            </a:extLst>
          </p:cNvPr>
          <p:cNvSpPr/>
          <p:nvPr/>
        </p:nvSpPr>
        <p:spPr>
          <a:xfrm>
            <a:off x="5045873" y="1490008"/>
            <a:ext cx="210025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5923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FEA70A-1420-F94E-9220-6F85D3949123}"/>
              </a:ext>
            </a:extLst>
          </p:cNvPr>
          <p:cNvSpPr/>
          <p:nvPr/>
        </p:nvSpPr>
        <p:spPr>
          <a:xfrm>
            <a:off x="182880" y="334407"/>
            <a:ext cx="1183732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Future Updates/Development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901402-1607-3341-A4CC-8E1FD602CDEA}"/>
              </a:ext>
            </a:extLst>
          </p:cNvPr>
          <p:cNvSpPr/>
          <p:nvPr/>
        </p:nvSpPr>
        <p:spPr>
          <a:xfrm>
            <a:off x="177338" y="2431985"/>
            <a:ext cx="1183732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Further training on AI to include API calls, business logic, and voice support.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Integrate AI to existing 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Further tweaks to site responsiveness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Explore possibilities of other industries and AI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50" dirty="0">
                <a:ln w="0"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And more!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spc="50" dirty="0">
              <a:ln w="0"/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spc="50" dirty="0">
              <a:ln w="0"/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9690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">
      <a:dk1>
        <a:srgbClr val="000000"/>
      </a:dk1>
      <a:lt1>
        <a:srgbClr val="FFFFFF"/>
      </a:lt1>
      <a:dk2>
        <a:srgbClr val="243C41"/>
      </a:dk2>
      <a:lt2>
        <a:srgbClr val="E3E8E2"/>
      </a:lt2>
      <a:accent1>
        <a:srgbClr val="CF75E7"/>
      </a:accent1>
      <a:accent2>
        <a:srgbClr val="8A57E2"/>
      </a:accent2>
      <a:accent3>
        <a:srgbClr val="757BE7"/>
      </a:accent3>
      <a:accent4>
        <a:srgbClr val="5797E2"/>
      </a:accent4>
      <a:accent5>
        <a:srgbClr val="3FB2C2"/>
      </a:accent5>
      <a:accent6>
        <a:srgbClr val="46B594"/>
      </a:accent6>
      <a:hlink>
        <a:srgbClr val="638F56"/>
      </a:hlink>
      <a:folHlink>
        <a:srgbClr val="82828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247</Words>
  <Application>Microsoft Macintosh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2</vt:lpstr>
      <vt:lpstr>SlateVTI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Charlie Blasi</dc:creator>
  <cp:lastModifiedBy>Kit Rana</cp:lastModifiedBy>
  <cp:revision>15</cp:revision>
  <dcterms:created xsi:type="dcterms:W3CDTF">2019-10-31T00:31:07Z</dcterms:created>
  <dcterms:modified xsi:type="dcterms:W3CDTF">2019-10-31T18:34:31Z</dcterms:modified>
</cp:coreProperties>
</file>